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31"/>
  </p:notesMasterIdLst>
  <p:handoutMasterIdLst>
    <p:handoutMasterId r:id="rId32"/>
  </p:handoutMasterIdLst>
  <p:sldIdLst>
    <p:sldId id="256" r:id="rId5"/>
    <p:sldId id="257" r:id="rId6"/>
    <p:sldId id="292" r:id="rId7"/>
    <p:sldId id="293" r:id="rId8"/>
    <p:sldId id="294" r:id="rId9"/>
    <p:sldId id="295" r:id="rId10"/>
    <p:sldId id="296" r:id="rId11"/>
    <p:sldId id="297" r:id="rId12"/>
    <p:sldId id="299" r:id="rId13"/>
    <p:sldId id="300" r:id="rId14"/>
    <p:sldId id="301" r:id="rId15"/>
    <p:sldId id="302" r:id="rId16"/>
    <p:sldId id="305" r:id="rId17"/>
    <p:sldId id="306" r:id="rId18"/>
    <p:sldId id="303" r:id="rId19"/>
    <p:sldId id="310" r:id="rId20"/>
    <p:sldId id="307" r:id="rId21"/>
    <p:sldId id="311" r:id="rId22"/>
    <p:sldId id="308" r:id="rId23"/>
    <p:sldId id="312" r:id="rId24"/>
    <p:sldId id="309" r:id="rId25"/>
    <p:sldId id="313" r:id="rId26"/>
    <p:sldId id="315" r:id="rId27"/>
    <p:sldId id="316" r:id="rId28"/>
    <p:sldId id="314" r:id="rId29"/>
    <p:sldId id="304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2047" autoAdjust="0"/>
    <p:restoredTop sz="54176" autoAdjust="0"/>
  </p:normalViewPr>
  <p:slideViewPr>
    <p:cSldViewPr snapToGrid="0">
      <p:cViewPr varScale="1">
        <p:scale>
          <a:sx n="83" d="100"/>
          <a:sy n="83" d="100"/>
        </p:scale>
        <p:origin x="208" y="1968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11/30/25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11/30/25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5E657-BCEC-081D-055F-B8329CA2E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83392-ECF9-768C-D8B5-CF0E79BAD6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652AE9-CB58-F5F1-3C9E-7B3671E1ED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FAF13E-C6EB-A87E-0EB6-FAF194FC3D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53248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3F6E4E-541B-DCBE-4D63-B8499EF66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B9DBDD-A9C8-781E-5628-0A308094D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D90D75-7852-74DF-D6D9-18CEFF36B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5CD4B5-A9BD-319C-CC5B-FDD0E21701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7983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E5DE92-8EFF-4FF2-DEDF-8B6506522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3D4D733-DBBC-7FF3-C03A-A17EFAE85C3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2A6E3FB-5315-9F6A-C262-4FA0D641988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92A6E3FB-5315-9F6A-C262-4FA0D6419885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To keep the physics controlled and analyzable, we work with a very standard family of mixed two-qubit states: </a:t>
                </a:r>
                <a:r>
                  <a:rPr lang="en-US" b="1" dirty="0"/>
                  <a:t>Werner states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We start from the maximally entangled Bell state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□(├ ∣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^+ ⟩ )=(□(├ ∣00⟩ )+□(├ ∣11⟩ ))/√2,</a:t>
                </a:r>
                <a:endParaRPr lang="ar-AE" dirty="0"/>
              </a:p>
              <a:p>
                <a:r>
                  <a:rPr lang="en-US" dirty="0"/>
                  <a:t>and then mix it with white noise. The resulting density matrix can be written as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(𝑝)=(1−𝑝) □(├ ∣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^+ ⟩ ) □(⟨</a:t>
                </a:r>
                <a:r>
                  <a:rPr lang="el-G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Φ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^+∣┤ )+𝑝/4 𝐼_4,</a:t>
                </a:r>
                <a:endParaRPr lang="ar-AE" dirty="0"/>
              </a:p>
              <a:p>
                <a:r>
                  <a:rPr lang="en-US" dirty="0"/>
                  <a:t>where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𝑝∈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[0ⓜ,1]</a:t>
                </a:r>
                <a:r>
                  <a:rPr lang="en-US" dirty="0"/>
                  <a:t>controls the noise level.</a:t>
                </a:r>
              </a:p>
              <a:p>
                <a:r>
                  <a:rPr lang="en-US" dirty="0"/>
                  <a:t>A nice property of Werner states is that their </a:t>
                </a:r>
                <a:r>
                  <a:rPr lang="en-US" b="1" dirty="0"/>
                  <a:t>entanglement is known analytically</a:t>
                </a:r>
                <a:r>
                  <a:rPr lang="en-US" dirty="0"/>
                  <a:t> through the </a:t>
                </a:r>
                <a:r>
                  <a:rPr lang="en-US" b="1" dirty="0"/>
                  <a:t>concurrence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(𝜌)</a:t>
                </a:r>
                <a:r>
                  <a:rPr lang="ar-AE" dirty="0"/>
                  <a:t>. </a:t>
                </a:r>
                <a:r>
                  <a:rPr lang="en-US" dirty="0"/>
                  <a:t>For this family, we can write</a:t>
                </a:r>
              </a:p>
              <a:p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(𝜌(𝑝))=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max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⁡{0ⓜ,3(1−𝑝)/2−1/2},</a:t>
                </a:r>
                <a:endParaRPr lang="ar-AE" dirty="0"/>
              </a:p>
              <a:p>
                <a:r>
                  <a:rPr lang="en-US" dirty="0"/>
                  <a:t>so the state is entangled for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𝑝&lt;2/3</a:t>
                </a:r>
                <a:r>
                  <a:rPr lang="en-US" dirty="0"/>
                  <a:t>and separable for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𝑝≥2/3</a:t>
                </a:r>
                <a:r>
                  <a:rPr lang="en-US" dirty="0"/>
                  <a:t>.</a:t>
                </a:r>
              </a:p>
              <a:p>
                <a:endParaRPr lang="en-US" dirty="0"/>
              </a:p>
              <a:p>
                <a:r>
                  <a:rPr lang="en-US" dirty="0"/>
                  <a:t>This analytic expression is key: it lets us generate </a:t>
                </a:r>
                <a:r>
                  <a:rPr lang="en-US" b="1" dirty="0"/>
                  <a:t>ground-truth labels</a:t>
                </a:r>
                <a:r>
                  <a:rPr lang="en-US" dirty="0"/>
                  <a:t> for our ML task without </a:t>
                </a:r>
              </a:p>
              <a:p>
                <a:r>
                  <a:rPr lang="en-US" dirty="0"/>
                  <a:t>any numerical optimization — we know exactly whether a given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(𝑝)</a:t>
                </a:r>
                <a:r>
                  <a:rPr lang="en-US" dirty="0"/>
                  <a:t>is entangled or not.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15F71F-2D84-5ADD-D4BB-73814627E0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7679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FC73B-EE34-70C0-5C20-42279C530C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F5D074-E349-1865-7EF0-F8C53FED19F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BC62139-3500-1624-BCA3-D8161538433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7BC62139-3500-1624-BCA3-D81615384336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second ingredient is the </a:t>
                </a:r>
                <a:r>
                  <a:rPr lang="en-US" b="1" dirty="0"/>
                  <a:t>classical shadow</a:t>
                </a:r>
                <a:r>
                  <a:rPr lang="en-US" dirty="0"/>
                  <a:t> formalism introduced by Huang, Kueng, and </a:t>
                </a:r>
                <a:r>
                  <a:rPr lang="en-US" dirty="0" err="1"/>
                  <a:t>Preskill</a:t>
                </a:r>
                <a:r>
                  <a:rPr lang="en-US" dirty="0"/>
                  <a:t>.</a:t>
                </a:r>
              </a:p>
              <a:p>
                <a:r>
                  <a:rPr lang="en-US" dirty="0"/>
                  <a:t>The idea is to replace full tomography with random local measurements. </a:t>
                </a:r>
              </a:p>
              <a:p>
                <a:r>
                  <a:rPr lang="en-US" dirty="0"/>
                  <a:t>For each copy of the state, we choose a random Pauli basis for each qubit, measure, and then apply a simple </a:t>
                </a:r>
                <a:r>
                  <a:rPr lang="en-US" b="1" dirty="0"/>
                  <a:t>inversion map</a:t>
                </a:r>
                <a:r>
                  <a:rPr lang="en-US" dirty="0"/>
                  <a:t> to get a single-shot estimator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 ̂^((𝑡) )</a:t>
                </a:r>
                <a:r>
                  <a:rPr lang="ar-AE" dirty="0"/>
                  <a:t>.</a:t>
                </a:r>
              </a:p>
              <a:p>
                <a:r>
                  <a:rPr lang="en-US" dirty="0"/>
                  <a:t>For a single qubit measured in a Pauli basis, the inverted estimator takes the form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 ̂_𝑖=3□(├ ∣𝑠_𝑖 ⟩ ) □(⟨𝑠_𝑖∣┤ )−𝐼_2,</a:t>
                </a:r>
                <a:endParaRPr lang="ar-AE" dirty="0"/>
              </a:p>
              <a:p>
                <a:r>
                  <a:rPr lang="en-US" dirty="0"/>
                  <a:t>where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□(├ ∣𝑠_𝑖 ⟩ )</a:t>
                </a:r>
                <a:r>
                  <a:rPr lang="en-US" dirty="0"/>
                  <a:t>is the measured eigenstate. For two qubits, we just take the tensor product of the single-qubit estimators and average over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</a:t>
                </a:r>
                <a:r>
                  <a:rPr lang="en-US" dirty="0"/>
                  <a:t> snapshots:</a:t>
                </a:r>
              </a:p>
              <a:p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 ̂_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"avg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=1/𝑇 ∑128_(𝑡=1)^𝑇▒𝜌 ̂^((𝑡) ) .</a:t>
                </a:r>
                <a:endParaRPr lang="ar-AE" b="0" dirty="0"/>
              </a:p>
              <a:p>
                <a:r>
                  <a:rPr lang="en-US" dirty="0"/>
                  <a:t>The key theoretical result from the classical-shadows paper is that many expectation values and even non-linear properties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</a:t>
                </a:r>
                <a:endParaRPr lang="en-US" dirty="0"/>
              </a:p>
              <a:p>
                <a:r>
                  <a:rPr lang="en-US" dirty="0"/>
                  <a:t>can be estimated with a </a:t>
                </a:r>
                <a:r>
                  <a:rPr lang="en-US" b="1" dirty="0"/>
                  <a:t>number of measurements that scales only logarithmically</a:t>
                </a:r>
                <a:r>
                  <a:rPr lang="en-US" dirty="0"/>
                  <a:t> in the number of observables of interest — which is a huge improvement over full tomography.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C4A7575-6DC8-4C44-60DD-26025EABA4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88740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1796A4-E6E8-80C6-2FF5-57F7C40245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D84DE9-44C5-D1E0-6F35-E4DD01774B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4D3D79-4F19-8B09-4CB9-4E9609EE8E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499890-9FBC-CE70-78E9-0281354BE5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44445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7A055-4283-059D-4A3D-21FF35A35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C2B76B-D375-EEA0-AC3D-BF096C713CC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8E799A2-76FE-7738-C49E-EEE82457A9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B8E799A2-76FE-7738-C49E-EEE82457A928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Putting this together, we can now formalize the problem.</a:t>
                </a:r>
              </a:p>
              <a:p>
                <a:r>
                  <a:rPr lang="en-US" dirty="0"/>
                  <a:t>Each data point in our dataset is a </a:t>
                </a:r>
                <a:r>
                  <a:rPr lang="en-US" b="1" dirty="0"/>
                  <a:t>noisy two-qubit state</a:t>
                </a:r>
                <a:r>
                  <a:rPr lang="en-US" dirty="0"/>
                  <a:t>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𝜌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(𝑝)</a:t>
                </a:r>
                <a:r>
                  <a:rPr lang="en-US" dirty="0"/>
                  <a:t>drawn from the Werner family, passed through the classical-shadow pipeline. </a:t>
                </a:r>
              </a:p>
              <a:p>
                <a:r>
                  <a:rPr lang="en-US" dirty="0"/>
                  <a:t>The model never sees the full density matrix at test time; it only sees a </a:t>
                </a:r>
                <a:r>
                  <a:rPr lang="en-US" b="1" dirty="0"/>
                  <a:t>classical feature vector</a:t>
                </a:r>
                <a:r>
                  <a:rPr lang="en-US" dirty="0"/>
                  <a:t> derived from the shadows.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task</a:t>
                </a:r>
                <a:r>
                  <a:rPr lang="en-US" dirty="0"/>
                  <a:t> is a simple binary classification:</a:t>
                </a:r>
              </a:p>
              <a:p>
                <a:r>
                  <a:rPr lang="en-US" dirty="0"/>
                  <a:t>label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𝑦=1</a:t>
                </a:r>
                <a:r>
                  <a:rPr lang="en-US" dirty="0"/>
                  <a:t>if the state is entangled,</a:t>
                </a:r>
              </a:p>
              <a:p>
                <a:r>
                  <a:rPr lang="en-US" dirty="0"/>
                  <a:t>label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𝑦=0</a:t>
                </a:r>
                <a:r>
                  <a:rPr lang="en-US" dirty="0"/>
                  <a:t>if the state is separable.</a:t>
                </a:r>
              </a:p>
              <a:p>
                <a:endParaRPr lang="en-US" dirty="0"/>
              </a:p>
              <a:p>
                <a:r>
                  <a:rPr lang="en-US" dirty="0"/>
                  <a:t>The main constraints are that we only generate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𝑁_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"samples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=250</a:t>
                </a:r>
                <a:r>
                  <a:rPr lang="en-US" dirty="0"/>
                  <a:t>candidate states per trial, and </a:t>
                </a:r>
              </a:p>
              <a:p>
                <a:r>
                  <a:rPr lang="en-US" dirty="0"/>
                  <a:t>we only take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𝑇_</a:t>
                </a:r>
                <a:r>
                  <a:rPr lang="en-US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"snapshots</a:t>
                </a:r>
                <a:r>
                  <a:rPr lang="ar-AE" sz="1200" b="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" =25</a:t>
                </a:r>
                <a:r>
                  <a:rPr lang="en-US" dirty="0"/>
                  <a:t>classical-shadow snapshots for each state. </a:t>
                </a:r>
              </a:p>
              <a:p>
                <a:r>
                  <a:rPr lang="en-US" dirty="0"/>
                  <a:t>So we’re intentionally in a low-data, low-shot regime to emulate realistic hardware constraints.</a:t>
                </a:r>
              </a:p>
              <a:p>
                <a:endParaRPr lang="en-US" dirty="0"/>
              </a:p>
              <a:p>
                <a:r>
                  <a:rPr lang="en-US" dirty="0"/>
                  <a:t>To generate labels, we use the </a:t>
                </a:r>
                <a:r>
                  <a:rPr lang="en-US" b="1" dirty="0"/>
                  <a:t>analytical concurrence</a:t>
                </a:r>
                <a:r>
                  <a:rPr lang="en-US" dirty="0"/>
                  <a:t> of the Werner state. But instead of labeling exactly at the boundary, we introduce a </a:t>
                </a:r>
                <a:r>
                  <a:rPr lang="en-US" b="1" dirty="0"/>
                  <a:t>safety gap</a:t>
                </a:r>
                <a:r>
                  <a:rPr lang="en-US" dirty="0"/>
                  <a:t>:</a:t>
                </a:r>
              </a:p>
              <a:p>
                <a:r>
                  <a:rPr lang="en-US" dirty="0"/>
                  <a:t>if the concurrence is essentially zero — below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10^(−5)</a:t>
                </a:r>
                <a:r>
                  <a:rPr lang="ar-AE" dirty="0"/>
                  <a:t>— </a:t>
                </a:r>
                <a:r>
                  <a:rPr lang="en-US" dirty="0"/>
                  <a:t>we label the state as </a:t>
                </a:r>
                <a:r>
                  <a:rPr lang="en-US" b="1" dirty="0"/>
                  <a:t>separable</a:t>
                </a:r>
                <a:r>
                  <a:rPr lang="en-US" dirty="0"/>
                  <a:t>,</a:t>
                </a:r>
              </a:p>
              <a:p>
                <a:r>
                  <a:rPr lang="en-US" dirty="0"/>
                  <a:t>if the concurrence is at least </a:t>
                </a:r>
                <a:r>
                  <a:rPr lang="en-US" b="1" dirty="0"/>
                  <a:t>0.1</a:t>
                </a:r>
                <a:r>
                  <a:rPr lang="en-US" dirty="0"/>
                  <a:t>, we label it as </a:t>
                </a:r>
                <a:r>
                  <a:rPr lang="en-US" b="1" dirty="0"/>
                  <a:t>entangled</a:t>
                </a:r>
                <a:r>
                  <a:rPr lang="en-US" dirty="0"/>
                  <a:t>,</a:t>
                </a:r>
              </a:p>
              <a:p>
                <a:r>
                  <a:rPr lang="en-US" dirty="0"/>
                  <a:t>anything in between is discarded as “ambiguous”.</a:t>
                </a:r>
              </a:p>
              <a:p>
                <a:r>
                  <a:rPr lang="en-US" dirty="0"/>
                  <a:t>This safety gap avoids feeding borderline cases to the classifier, where small numerical errors in concurrence or small changes in noise would flip the label.</a:t>
                </a:r>
              </a:p>
              <a:p>
                <a:r>
                  <a:rPr lang="en-US" dirty="0"/>
                  <a:t>After applying this gap, out of the requested 250 candidate states we end up with roughly </a:t>
                </a:r>
                <a:r>
                  <a:rPr lang="en-US" b="1" dirty="0"/>
                  <a:t>230 labeled examples</a:t>
                </a:r>
                <a:r>
                  <a:rPr lang="en-US" dirty="0"/>
                  <a:t> per trial, with a reasonably balanced split between entangled and separable classes.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4FF2D4-2582-1323-BF22-450F3FD57C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23943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63709-F009-F344-E0A6-B046E65021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E2049EE-5FB4-6D9B-E856-6F274FB9F8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D1F733-8646-6105-3A54-90FC44B573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5A8F02-2691-CE4D-60BC-ADE1EAEBBC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7323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35EF-AE90-9F7A-069B-4B68FD66A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D63E0B4-291A-F17A-490F-3BC2775845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0F8C9B5-DF86-8ED4-A89C-D3A6A85FE0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endParaRPr lang="en-US" dirty="0"/>
              </a:p>
            </p:txBody>
          </p:sp>
        </mc:Choice>
        <mc:Fallback xmlns="">
          <p:sp>
            <p:nvSpPr>
              <p:cNvPr id="3" name="Notes Placeholder 2">
                <a:extLst>
                  <a:ext uri="{FF2B5EF4-FFF2-40B4-BE49-F238E27FC236}">
                    <a16:creationId xmlns:a16="http://schemas.microsoft.com/office/drawing/2014/main" id="{C0F8C9B5-DF86-8ED4-A89C-D3A6A85FE087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 err="1"/>
                  <a:t>ll</a:t>
                </a:r>
                <a:r>
                  <a:rPr lang="en-US" dirty="0"/>
                  <a:t> models take the same 16 features as input. Here are the concrete configurations we use:</a:t>
                </a:r>
              </a:p>
              <a:p>
                <a:r>
                  <a:rPr lang="en-US" b="1" dirty="0"/>
                  <a:t>Logistic Regression</a:t>
                </a:r>
                <a:r>
                  <a:rPr lang="en-US" dirty="0"/>
                  <a:t> with </a:t>
                </a:r>
                <a:r>
                  <a:rPr lang="ar-AE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ℓ_2</a:t>
                </a:r>
                <a:r>
                  <a:rPr lang="en-US" dirty="0"/>
                  <a:t>regularization and class-balanced weights. This is our linear reference point.</a:t>
                </a:r>
              </a:p>
              <a:p>
                <a:r>
                  <a:rPr lang="en-US" b="1" dirty="0"/>
                  <a:t>Random Forest</a:t>
                </a:r>
                <a:r>
                  <a:rPr lang="en-US" dirty="0"/>
                  <a:t>, where we tune the number of trees between 50 and 100, and</a:t>
                </a:r>
              </a:p>
              <a:p>
                <a:r>
                  <a:rPr lang="en-US" dirty="0"/>
                  <a:t> the maximum depth between “None” and 10. This controls the bias–variance trade-off of the ensemble.</a:t>
                </a:r>
              </a:p>
              <a:p>
                <a:r>
                  <a:rPr lang="en-US" dirty="0"/>
                  <a:t>The </a:t>
                </a:r>
                <a:r>
                  <a:rPr lang="en-US" b="1" dirty="0"/>
                  <a:t>FNN</a:t>
                </a:r>
                <a:r>
                  <a:rPr lang="en-US" dirty="0"/>
                  <a:t>, which has an architecture of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16→64→32→1</a:t>
                </a:r>
                <a:r>
                  <a:rPr lang="en-US" dirty="0"/>
                  <a:t>. </a:t>
                </a:r>
              </a:p>
              <a:p>
                <a:r>
                  <a:rPr lang="en-US" dirty="0"/>
                  <a:t>We use Rectified Linear Unit activations, a dropout rate of 0.4 after the first hidden layer to reduce overfitting, </a:t>
                </a:r>
              </a:p>
              <a:p>
                <a:r>
                  <a:rPr lang="en-US" dirty="0"/>
                  <a:t>and a final sigmoid output to produce a probability. The network is trained with Adam and binary cross-entropy.</a:t>
                </a:r>
              </a:p>
              <a:p>
                <a:r>
                  <a:rPr lang="en-US" dirty="0"/>
                  <a:t>And the </a:t>
                </a:r>
                <a:r>
                  <a:rPr lang="en-US" b="1" dirty="0"/>
                  <a:t>RBF SVM</a:t>
                </a:r>
                <a:r>
                  <a:rPr lang="en-US" dirty="0"/>
                  <a:t>, where we tune both the regularization parameter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𝐶</a:t>
                </a:r>
                <a:r>
                  <a:rPr lang="en-US" dirty="0"/>
                  <a:t>and the kernel width </a:t>
                </a:r>
                <a:r>
                  <a:rPr 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𝛾</a:t>
                </a:r>
                <a:r>
                  <a:rPr lang="en-US" dirty="0"/>
                  <a:t>, again with class-balanced settings.</a:t>
                </a:r>
              </a:p>
              <a:p>
                <a:r>
                  <a:rPr lang="en-US" dirty="0"/>
                  <a:t>The goal isn’t to engineer exotic architectures but to test </a:t>
                </a:r>
                <a:r>
                  <a:rPr lang="en-US" b="1" dirty="0"/>
                  <a:t>standard ML tools</a:t>
                </a:r>
                <a:r>
                  <a:rPr lang="en-US" dirty="0"/>
                  <a:t> on this quantum-inspired feature space.</a:t>
                </a:r>
              </a:p>
              <a:p>
                <a:endParaRPr lang="en-US" dirty="0"/>
              </a:p>
            </p:txBody>
          </p:sp>
        </mc:Fallback>
      </mc:AlternateContent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B1DD91-ABA8-9B48-8512-9C7311DA4BA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89894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ABA0D-6C16-1498-1386-7E7878EC7E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0B4D79-8D5E-DA95-A0FE-FBA9D796FF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AD592E5-A7DB-89EA-ED9E-2F625DEE3F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70D339-CB5C-DF5E-8C62-F1EEA70442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162555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7C15E9-B459-6240-C79E-C19EE1F600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0D9C23-96B8-C831-6AFB-3EA5555F05D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71DF037-CA79-842A-4691-24BCAF973C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6222AD-259A-C32F-75D9-1E3EF6A7D6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173726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5A4707-507F-26AE-4EF7-B1586B52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52AC9F-0707-2FAA-0186-08C796E1E9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EE6C9A3-4FD8-E774-CCC2-EFD453250D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2D4B3D-6AED-AA39-288D-36E027D1A2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54856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0121D-7CDC-2E77-5539-6E1E75600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F82F2DF-9EA2-7D32-6E95-7A397AA984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C88D68-8F19-298A-492B-FA5086A2A3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F1B66F-F4E8-C1CB-0EFA-74E9EBA640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9280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9B207E-2AA0-2E4F-C89D-34BE06FC4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5D1A88-8DD0-2842-FA7A-37B4FDE6A9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088974-6630-49E0-5169-2896ED8604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4750DCA-C4AF-BCE7-49AD-4EC15A42E20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579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2AF854-7251-A7F2-1EC0-31613C2510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A9D3E25-D0B4-2DD7-9404-F9F1E62B50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5EF7D8-806F-6213-E7AC-B27DA3C2FA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F729FE-FE06-C78F-D5EF-F030C00F3FF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981683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0C2905-F2CD-C142-1589-0CE8E22F7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4D7B042-F61D-0FDF-CE39-C6318CC00B1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B62139-CA67-F3C7-C7C5-45D8A85F4E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07D033-164F-0E27-E2FF-E4E4C79D9E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5652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93C55-A36B-7D64-4AB8-95A5DD4A4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DBE5F5-55DD-890C-599B-1DD1CB263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262630-03BA-98CD-71F5-09F1D23F7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3FA918-9656-7F9F-3C19-2388579F96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57455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B46C85-8C26-7536-25A9-4917CB3A7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6F1ACF-5E66-C62C-1889-6A5D9DC4E4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BA173A5-03D5-5FDA-A8E5-1FB55E906C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B4966-AACA-683E-9B37-106ED2563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858183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C06A8-E1E4-4706-9622-41C691D9C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584027B-FE89-BC2E-FEAF-239DE61E01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44FF0B-8E49-557F-9101-89A83B9761E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99E191-B40B-1DDA-87AC-B9889BCBDB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536492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A9C61A-0BAA-7FDE-F767-58BD1C916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51F868-5D64-65FA-BAD3-B3F975BCBD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70CE7B4-21E3-4E02-ADF6-04CBBB112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3C948-E73F-0F86-F90F-0D42D5F88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646720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4A76EE-0661-2B88-4187-60495EEA92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137428-E9E0-7756-0C8C-96C502DB0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9455CD-91FC-41A9-CF1D-E53285029E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E56A8C-C2AE-9D50-F50B-1F1D60AAA57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559447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C28122-11AB-98A2-994B-0D0BC15E5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0457E8-D3E2-68D0-F4CE-7C0BD11028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5C751A-D41A-2B41-C9CD-983A3BEAE1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974DB-5495-0C55-1F4B-5FBB344C8A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9457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BE5B2-D603-6D42-EE29-22C6EBAFFE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62DC9A-02AC-C414-04E6-CD047C756C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FF6D8F-3576-E976-4E8C-21B5FC2DA27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8F0C6B-0456-18A3-104D-B6D5164C3F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455886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42CBD8-7E94-161D-A36D-08EEFEA563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606DDB-A1BE-E05F-ECB6-53D13FA0C3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B5F169-6084-7B73-DCEB-390EF4733A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CDF2FA-C036-173F-1FD9-88176B97D0A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26774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4FC1BA-50B7-58D0-2B8E-1C0C08143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69ECA2-D263-A73C-1326-BD6145DE90F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AACDC7-0BD6-E7EE-0A6C-BD84A0EF73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17913F-B626-67F2-22C3-3E6F17B1AEC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9646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95045" y="1119554"/>
            <a:ext cx="7522088" cy="2121177"/>
          </a:xfrm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en-US" sz="2800" dirty="0"/>
              <a:t>Neural Shadows: A Machine Learning Approach to Classifying Entanglement Phases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F341618-6038-4E56-E043-572A3E241143}"/>
              </a:ext>
            </a:extLst>
          </p:cNvPr>
          <p:cNvSpPr txBox="1">
            <a:spLocks/>
          </p:cNvSpPr>
          <p:nvPr/>
        </p:nvSpPr>
        <p:spPr>
          <a:xfrm>
            <a:off x="2051537" y="3745523"/>
            <a:ext cx="6209105" cy="201636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 cap="all" spc="15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sz="1800" dirty="0"/>
              <a:t>Syed Emad Uddin Shubha and Joseph Masters</a:t>
            </a:r>
          </a:p>
          <a:p>
            <a:pPr algn="ctr">
              <a:lnSpc>
                <a:spcPct val="150000"/>
              </a:lnSpc>
            </a:pPr>
            <a:r>
              <a:rPr lang="en-US" sz="1800" dirty="0"/>
              <a:t>Machine Learning (CSC 7333)</a:t>
            </a:r>
          </a:p>
          <a:p>
            <a:pPr algn="ctr">
              <a:lnSpc>
                <a:spcPct val="150000"/>
              </a:lnSpc>
            </a:pPr>
            <a:r>
              <a:rPr lang="en-US" sz="1800" dirty="0"/>
              <a:t>Department of Computer Science, </a:t>
            </a:r>
          </a:p>
          <a:p>
            <a:pPr algn="ctr">
              <a:lnSpc>
                <a:spcPct val="150000"/>
              </a:lnSpc>
            </a:pPr>
            <a:r>
              <a:rPr lang="en-US" sz="1800" dirty="0"/>
              <a:t>Louisiana State University</a:t>
            </a:r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b="0" dirty="0"/>
              <a:t>Introduction and Motivation</a:t>
            </a:r>
          </a:p>
          <a:p>
            <a:pPr>
              <a:lnSpc>
                <a:spcPct val="110000"/>
              </a:lnSpc>
            </a:pPr>
            <a:r>
              <a:rPr lang="en-US" b="0" dirty="0"/>
              <a:t>Background and Related Work</a:t>
            </a:r>
          </a:p>
          <a:p>
            <a:pPr>
              <a:lnSpc>
                <a:spcPct val="110000"/>
              </a:lnSpc>
            </a:pPr>
            <a:r>
              <a:rPr lang="en-US" b="0" dirty="0"/>
              <a:t>Problem Formulation and Dataset</a:t>
            </a:r>
          </a:p>
          <a:p>
            <a:pPr>
              <a:lnSpc>
                <a:spcPct val="110000"/>
              </a:lnSpc>
            </a:pPr>
            <a:r>
              <a:rPr lang="en-US" b="0" dirty="0"/>
              <a:t>Methodology: ML System Design</a:t>
            </a:r>
          </a:p>
          <a:p>
            <a:pPr>
              <a:lnSpc>
                <a:spcPct val="110000"/>
              </a:lnSpc>
            </a:pPr>
            <a:r>
              <a:rPr lang="en-US" b="0" dirty="0"/>
              <a:t>Experimental Setup</a:t>
            </a:r>
          </a:p>
          <a:p>
            <a:pPr>
              <a:lnSpc>
                <a:spcPct val="110000"/>
              </a:lnSpc>
            </a:pPr>
            <a:r>
              <a:rPr lang="en-US" b="0" dirty="0"/>
              <a:t>Results and Discussion</a:t>
            </a:r>
          </a:p>
          <a:p>
            <a:pPr>
              <a:lnSpc>
                <a:spcPct val="110000"/>
              </a:lnSpc>
            </a:pPr>
            <a:r>
              <a:rPr lang="en-US" b="0" dirty="0"/>
              <a:t>Summary, Limitations, and Future Work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EB31B-52BA-1008-0A8D-A0AC433B5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681D10-B9EA-1BB0-35DD-4F83683FEF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Introduction and Motivation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3058D751-34C7-2497-4542-8A8049EE133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34482"/>
            <a:ext cx="8920481" cy="3532553"/>
          </a:xfrm>
        </p:spPr>
        <p:txBody>
          <a:bodyPr>
            <a:noAutofit/>
          </a:bodyPr>
          <a:lstStyle/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Quantum entanglement is essential for quantum information processing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Verifying entanglement experimentally is computationally expensive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dirty="0"/>
              <a:t>Full quantum state tomography scales exponentially with qubit number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/>
              <a:t>Classical shadows offer a resource-efficient alternative: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dirty="0"/>
              <a:t>Uses randomized local Pauli measurements to construct approximate classical representations of quantum states using several measurements that scale logarithmically with the number of observables</a:t>
            </a:r>
          </a:p>
          <a:p>
            <a:pPr marL="285750" lvl="0" indent="-2857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lang="en-US" alt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66EEE631-3B6A-6411-6A66-BD4A4459096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21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ED311-A8FC-1F4D-EDA0-E564A2DFF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11005-89B6-7A57-090C-780732985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232F9073-13FC-9EFC-E8FB-5ECC173713D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b="0" dirty="0"/>
              <a:t>Given only classical-shadow data from a noisy 2-qubit system, how do different machine learning architectures (LR, RF, FNN, RBF SVM) compare in classifying entangled versus separable phases, particularly in low-data, low-shot regimes?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CD4524F-50BF-6984-B2EE-271F81FFFD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1233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84590E-0EAE-100F-86DF-D0BB7D35F8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0CC654-82D4-4E48-5AB6-1E63829B1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Background and Related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7F79CF08-3986-BF01-8DFF-B60F27C37D79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1341120" y="2657928"/>
                <a:ext cx="8920481" cy="353255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Werner States and Concurrence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Focus on 2-qubit Werner states:</a:t>
                </a:r>
              </a:p>
              <a:p>
                <a:pPr marL="569214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Mixture of Bell state and white noise</a:t>
                </a:r>
              </a:p>
              <a:p>
                <a:pPr marL="569214" lvl="1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Parameterized by noise level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0</m:t>
                        </m:r>
                      </m:e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lang="ar-AE" dirty="0"/>
                  <a:t>:</a:t>
                </a: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dirty="0"/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Entanglement measured via concurrence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</m:oMath>
                </a14:m>
                <a:r>
                  <a:rPr lang="ar-AE" dirty="0"/>
                  <a:t>; </a:t>
                </a:r>
                <a:r>
                  <a:rPr lang="en-US" dirty="0"/>
                  <a:t>vanishes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smtClean="0">
                        <a:latin typeface="Cambria Math" panose="02040503050406030204" pitchFamily="18" charset="0"/>
                      </a:rPr>
                      <m:t>≥2/3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7F79CF08-3986-BF01-8DFF-B60F27C37D7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1341120" y="2657928"/>
                <a:ext cx="8920481" cy="3532553"/>
              </a:xfrm>
              <a:blipFill>
                <a:blip r:embed="rId3"/>
                <a:stretch>
                  <a:fillRect l="-547" t="-22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72832D2B-D48E-BC60-6A24-0734868A5E1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1D0660-AD59-3D18-6696-BB76F9D669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4690" y="4187177"/>
            <a:ext cx="4081186" cy="67388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37E4817-A46C-4775-CF66-5227F36678F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5351" y="4861064"/>
            <a:ext cx="3419863" cy="426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214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CB711D-7B11-6EB6-C864-4CD911517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50297-54F0-0EFB-7E86-F7E3B45FA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Background and Related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65153F82-32B3-3095-A5D8-51056C79A109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Classical Shadows proposed by Huang et al. [1]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Estimate multiple state properties via randomized Pauli (or Clifford) measurements.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Single-qubit snapshot: </a:t>
                </a:r>
                <a14:m>
                  <m:oMath xmlns:m="http://schemas.openxmlformats.org/officeDocument/2006/math">
                    <m:d>
                      <m:dPr>
                        <m:begChr m:val=""/>
                        <m:endChr m:val="⟩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ar-AE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ar-AE" b="0" i="1" smtClean="0">
                                    <a:latin typeface="Cambria Math" panose="02040503050406030204" pitchFamily="18" charset="0"/>
                                  </a:rPr>
                                  <m:t>𝜌</m:t>
                                </m:r>
                              </m:e>
                            </m:acc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=3∣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d>
                      <m:dPr>
                        <m:begChr m:val="⟨"/>
                        <m:endChr m:val="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∣−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N-qubit tensor product estimator from one snapshot: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final estimate is obtained by averaging over T snapshots:</a:t>
                </a:r>
              </a:p>
            </p:txBody>
          </p:sp>
        </mc:Choice>
        <mc:Fallback xmlns="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65153F82-32B3-3095-A5D8-51056C79A1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  <a:blipFill>
                <a:blip r:embed="rId3"/>
                <a:stretch>
                  <a:fillRect l="-5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1BC78ECA-D60B-C486-9DD4-4080D7E10C5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5B212C3-C232-14D2-8B80-5EEA6681EE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733" y="3811444"/>
            <a:ext cx="1222560" cy="88452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5DDEB8C-ADA8-3CF4-58D6-36A4F6EB4A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5704" y="4658600"/>
            <a:ext cx="1803454" cy="8718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680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E9CE3-2968-6726-6035-94AAEFCC7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66FE07-2E57-9D33-15C2-4913BD73A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r>
              <a:rPr lang="en-US" dirty="0"/>
              <a:t>Background and Related Work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CC6FAD67-4D54-8053-D88E-C7B200DCC65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Machine Learning Models: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(LR): Linear baseline for binary classification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 (RF): Ensemble of decision trees, captures non-linear patterns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Feedforward Neural Network (FNN): Fully-connected network, trained with backpropagation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Vector Machine (SVM): Margin-based classifier with radial basis function (RBF) kernel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3DB725F-FE45-7587-1323-99A53E90C3B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7521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D4F58-6666-D485-A6ED-772544A99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1A9142-B6CF-EA28-7B95-FB0BF9829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Problem Formulation and Dataset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4F3170BF-B13C-B7B5-39DD-584BA3C66036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Input: classical-shadow representation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endParaRPr lang="en-US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Binary classification: Predict if a noisy 2-qubit state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𝜌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</m:d>
                  </m:oMath>
                </a14:m>
                <a:r>
                  <a:rPr lang="en-US" dirty="0"/>
                  <a:t>is entangled (y=1) or separable (y=0)</a:t>
                </a:r>
              </a:p>
              <a:p>
                <a:pPr marL="793242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ar-AE" b="0" smtClean="0">
                        <a:latin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−5</m:t>
                        </m:r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b="0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endParaRPr lang="ar-AE" dirty="0"/>
              </a:p>
              <a:p>
                <a:pPr marL="793242" lvl="2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ar-AE" b="0" i="1" smtClean="0">
                        <a:latin typeface="Cambria Math" panose="02040503050406030204" pitchFamily="18" charset="0"/>
                      </a:rPr>
                      <m:t>𝐶</m:t>
                    </m:r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ar-AE" b="0" smtClean="0">
                        <a:latin typeface="Cambria Math" panose="02040503050406030204" pitchFamily="18" charset="0"/>
                      </a:rPr>
                      <m:t>0.1→</m:t>
                    </m:r>
                    <m:r>
                      <a:rPr lang="ar-AE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ar-AE" b="0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ar-AE" dirty="0"/>
              </a:p>
              <a:p>
                <a:pPr marL="793242" lvl="2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Otherwise → discard sample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Generate up to 250 states per trial; after the discarding gap ~230 labeled examples per trial with reasonably balanced class distribution</a:t>
                </a:r>
              </a:p>
              <a:p>
                <a:pPr marL="285750" indent="-285750">
                  <a:lnSpc>
                    <a:spcPct val="110000"/>
                  </a:lnSpc>
                  <a:buFont typeface="Arial" panose="020B0604020202020204" pitchFamily="34" charset="0"/>
                  <a:buChar char="•"/>
                </a:pPr>
                <a:endParaRPr lang="en-US" dirty="0"/>
              </a:p>
            </p:txBody>
          </p:sp>
        </mc:Choice>
        <mc:Fallback xmlns="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4F3170BF-B13C-B7B5-39DD-584BA3C6603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  <a:blipFill>
                <a:blip r:embed="rId3"/>
                <a:stretch>
                  <a:fillRect l="-41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1891DFF-6C79-DC1F-D6ED-6049D62F2C9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1449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BC1DFC-14B4-7AEB-A978-796CBC0A5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851078-A18F-66CC-71D6-E7C9C176E3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Methodology: ML System Design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1062F33B-3B38-AB0C-A084-A290020C810B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Feature Pipeline from Classical Shadows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Simulate T = 25 randomized joint Pauli measurements per state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One-qubit estimator: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</m:oMath>
                </a14:m>
                <a:r>
                  <a:rPr lang="en-US" dirty="0"/>
                  <a:t>(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𝑜</m:t>
                    </m:r>
                  </m:oMath>
                </a14:m>
                <a:r>
                  <a:rPr lang="en-US" dirty="0"/>
                  <a:t>)</a:t>
                </a:r>
                <a14:m>
                  <m:oMath xmlns:m="http://schemas.openxmlformats.org/officeDocument/2006/math"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d>
                      <m:d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𝕀</m:t>
                            </m:r>
                          </m:e>
                          <m:sub>
                            <m:r>
                              <a:rPr lang="ar-AE" b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b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𝕀</m:t>
                        </m:r>
                      </m:e>
                      <m:sub>
                        <m:r>
                          <a:rPr lang="ar-AE" b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Two-qubit estimator: tensor product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p>
                        <m:d>
                          <m:d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ar-AE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sup>
                    </m:sSup>
                    <m:r>
                      <a:rPr lang="ar-AE" b="0" smtClean="0">
                        <a:latin typeface="Cambria Math" panose="02040503050406030204" pitchFamily="18" charset="0"/>
                      </a:rPr>
                      <m:t>=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r>
                      <m:rPr>
                        <m:nor/>
                      </m:rPr>
                      <a:rPr lang="en-US" dirty="0"/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)</m:t>
                    </m:r>
                    <m:r>
                      <a:rPr lang="ar-AE" b="0" smtClean="0">
                        <a:latin typeface="Cambria Math" panose="02040503050406030204" pitchFamily="18" charset="0"/>
                      </a:rPr>
                      <m:t>⊗</m:t>
                    </m:r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  <m:r>
                      <m:rPr>
                        <m:nor/>
                      </m:rPr>
                      <a:rPr lang="en-US" dirty="0"/>
                      <m:t>(</m:t>
                    </m:r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𝑜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nor/>
                      </m:rPr>
                      <a:rPr lang="en-US" dirty="0"/>
                      <m:t>)</m:t>
                    </m:r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ℂ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4×4</m:t>
                        </m:r>
                      </m:sup>
                    </m:sSup>
                  </m:oMath>
                </a14:m>
                <a:endParaRPr lang="ar-AE" dirty="0"/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Reconstruct 4x4 density matrix estimator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𝜌</m:t>
                            </m:r>
                          </m:e>
                        </m:acc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𝑎𝑣𝑔</m:t>
                        </m:r>
                      </m:sub>
                    </m:sSub>
                  </m:oMath>
                </a14:m>
                <a:r>
                  <a:rPr lang="en-US" dirty="0"/>
                  <a:t>, then flatten the real part into a 16-dimensional feature vector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Encodes one- and two-body correlations which are used as the inputs to all ML models</a:t>
                </a:r>
              </a:p>
            </p:txBody>
          </p:sp>
        </mc:Choice>
        <mc:Fallback xmlns="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1062F33B-3B38-AB0C-A084-A290020C810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  <a:blipFill>
                <a:blip r:embed="rId3"/>
                <a:stretch>
                  <a:fillRect l="-5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B21AEAD2-B576-8349-1CA5-FA00E0072B4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90873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2023-1CC8-98E0-E72A-2A9CCC6FD5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B4B61-D780-4606-E689-2BD205D3C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Methodology: ML System Design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6856D3BD-AEB8-C1CA-380F-4EA11AC8A213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Model Architectures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(LR): The linear baseline with ℓ2 regularization and class-balanced weights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Random Forest (RF): An ensemble of decision trees where we tune the number of trees {50, 100} and max depth {none, 10}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Feedforward Neural Network (FNN): A fully connected NN with architecture of    16 → 64 → 32 → 1, </a:t>
            </a:r>
            <a:r>
              <a:rPr lang="en-US" dirty="0" err="1"/>
              <a:t>ReLU</a:t>
            </a:r>
            <a:r>
              <a:rPr lang="en-US" dirty="0"/>
              <a:t> activation, dropout 0.4, sigmoid output, and trained with the Adam optimizer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Support Vector Machine (SVM): A margin-based classifier with an RBF kernel and tuned regularization C and kernel width </a:t>
            </a:r>
            <a:r>
              <a:rPr lang="el-GR" dirty="0"/>
              <a:t>γ</a:t>
            </a:r>
            <a:r>
              <a:rPr lang="en-US" dirty="0"/>
              <a:t> values</a:t>
            </a:r>
            <a:endParaRPr lang="el-G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78E2F9FB-5023-A594-0A50-AE89775A2D4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2269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2A2A19-FD8D-8514-DE3C-6B6DC7B37C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C11A2E-A5F5-E89C-7D45-194D7AADC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Methodology: ML System Design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73C74CA-8FE7-80FD-3EB0-7ADCAFA4DEA9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Training and 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Dataset split: 80/20 stratified train/test to preserve class balance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LR, RF, SVM: Grid </a:t>
            </a:r>
            <a:r>
              <a:rPr lang="en-US" dirty="0" err="1"/>
              <a:t>SearchCV</a:t>
            </a:r>
            <a:r>
              <a:rPr lang="en-US" dirty="0"/>
              <a:t> with 3- to 5-fold cross-validation with F1 scoring as the selection metric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FNN: Manual grid search over hidden layer size, dropout rate, and learning rate with a 5-fold cross-validation to select the best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Final evaluation for all models: Retrain on the full training set and test on the hold-out set using F1 scores for as the evaluation metric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15650DC8-8B73-4A56-FFCA-47D9D26F0FD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09334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AE415-56F9-E167-B2F1-7C7B2EAC0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5C9C-D5CF-B055-6ECF-27B1B87A0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Experimental Setup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484C1D1-DBF6-F680-CA05-5FB2628EE7F0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Implementation Platform and Software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Python on Google Colab with NVIDIA T4 GPU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Libraries: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QuTiP</a:t>
            </a:r>
            <a:r>
              <a:rPr lang="en-US" dirty="0"/>
              <a:t>: Quantum state preparation and measurement simulation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NumPy / SciPy: Numerical operations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scikit-learn: LR, RF, SVM, grid search, train/test split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err="1"/>
              <a:t>PyTorch</a:t>
            </a:r>
            <a:r>
              <a:rPr lang="en-US" dirty="0"/>
              <a:t>: FNN implementation and training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Matplotlib: Visualization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C857F3B6-46E0-5EDB-A6BD-4167A671E24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32848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5BD23-5ACD-34AF-2C9A-895535520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1A2249-86D1-8CE7-7BA9-19295B7FBD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Experimental Setup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5B0231C4-A5AA-2219-C30F-26E9680693A8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en-US" dirty="0"/>
                  <a:t>Parameter Regime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Low-resource regime: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𝑠𝑎𝑚𝑝𝑙𝑒𝑠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250 candidate states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𝑛𝑎𝑝𝑠h𝑜𝑡𝑠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= 25 joint Pauli measurements per state</a:t>
                </a:r>
              </a:p>
              <a:p>
                <a:pPr lvl="1">
                  <a:buFont typeface="Arial" panose="020B0604020202020204" pitchFamily="34" charset="0"/>
                  <a:buChar char="•"/>
                </a:pPr>
                <a:r>
                  <a:rPr lang="en-US" dirty="0"/>
                  <a:t>After the discarding gap: ~230 labeled examples per trial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The chosen (N, T) emulate a realistic measurement budget rather than an asymptotic, tomography-like setting</a:t>
                </a:r>
              </a:p>
            </p:txBody>
          </p:sp>
        </mc:Choice>
        <mc:Fallback xmlns="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5B0231C4-A5AA-2219-C30F-26E9680693A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  <a:blipFill>
                <a:blip r:embed="rId3"/>
                <a:stretch>
                  <a:fillRect l="-547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F928811E-F731-C2D3-170F-5D8D74E070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68767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9D80D-EB1E-AD2E-AA73-7D026810D5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3976C-588F-2C64-A6BD-7B3BE82FA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Experimental Setup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79B1DAF3-8CE4-785E-332A-FC72DFA5978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Monte Carlo Stability Evaluation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Account for variance from small datasets and possible lucky splits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= 100 trials: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Regenerate dataset for each trial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80/20 stratified train/test split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Train all models and record F1 scores on the hold-out test set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Report mean ± std of F1 across trials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98854C14-F4B8-66DF-1FE1-179F3A7DA28F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415366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E96E7-9543-B92D-2532-497CFE513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A8A0B-CE44-C5A6-159C-1DFE12BA9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Results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213715E4-8395-6F92-A3AF-2E4DC98E0DFA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Representative Low-Resource Trial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Example run: (95 separable vs. 135 entangled states)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F1 scores: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LR: 0.831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RF: 0.829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FNN: 0.812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SVM: 0.844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Each of the models performed similarly, with the SVM achieving the highest F1 score or 0.844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FEA00E74-D933-4097-6A6E-24171F70B45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9722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C8733F-A34D-D5AD-D09B-0BE04782A1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B1629-9F57-C148-880C-162E2A598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9E35549D-64F0-3EB9-0A4B-F8C75570BE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/>
          <a:lstStyle/>
          <a:p>
            <a:r>
              <a:rPr lang="en-US" dirty="0"/>
              <a:t>Figure 1.</a:t>
            </a:r>
          </a:p>
        </p:txBody>
      </p:sp>
      <p:sp>
        <p:nvSpPr>
          <p:cNvPr id="75" name="Content Placeholder 3">
            <a:extLst>
              <a:ext uri="{FF2B5EF4-FFF2-40B4-BE49-F238E27FC236}">
                <a16:creationId xmlns:a16="http://schemas.microsoft.com/office/drawing/2014/main" id="{FE4226A6-FBC3-7ADF-E202-903F6EFAC33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Single-trial performance of all four models on a representative dataset (N ≈ 230,T = 25). In this particular realization, the Shadow SVM achieves the highest F1 score (≈ 0.84),followed closely by Logistic Regression and Random Forest. The FNN lags slightly but remains in the same performance band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5BA97FBD-BFB9-C5C0-7A26-6B3F6048CB1A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/>
          <a:lstStyle/>
          <a:p>
            <a:r>
              <a:rPr lang="en-US" dirty="0"/>
              <a:t>     Single Trial Performance (N=250, T=25)</a:t>
            </a:r>
          </a:p>
        </p:txBody>
      </p:sp>
      <p:pic>
        <p:nvPicPr>
          <p:cNvPr id="8" name="Picture 7" descr="A graph of different colors&#10;&#10;AI-generated content may be incorrect.">
            <a:extLst>
              <a:ext uri="{FF2B5EF4-FFF2-40B4-BE49-F238E27FC236}">
                <a16:creationId xmlns:a16="http://schemas.microsoft.com/office/drawing/2014/main" id="{00335B4B-576E-D96A-65FD-85E8E45E88B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478" r="1" b="1"/>
          <a:stretch>
            <a:fillRect/>
          </a:stretch>
        </p:blipFill>
        <p:spPr>
          <a:xfrm>
            <a:off x="4754881" y="3324859"/>
            <a:ext cx="5506720" cy="3031489"/>
          </a:xfrm>
          <a:prstGeom prst="rect">
            <a:avLst/>
          </a:prstGeom>
          <a:noFill/>
        </p:spPr>
      </p:pic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AC1926DC-195C-7C75-E8A2-F57F1B46C65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61873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A784F-4284-9626-3FAC-F69BCE74A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F29D81-BDA3-858D-8521-F2F453EEE3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Results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3CE29ABB-F8D9-71B1-3CDC-CC3B8BA7545D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Monte Carlo Stability Analysis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 account for sampling, measurement, and data split randomness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 = 100 times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Mean ± std F1: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dirty="0"/>
              <a:t>LR: 0.802 ± 0.049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dirty="0"/>
              <a:t>RF: 0.820 ± 0.044</a:t>
            </a:r>
          </a:p>
          <a:p>
            <a:pPr marL="569214" lvl="1" indent="-285750">
              <a:buFont typeface="Arial" panose="020B0604020202020204" pitchFamily="34" charset="0"/>
              <a:buChar char="•"/>
            </a:pPr>
            <a:r>
              <a:rPr lang="en-US" dirty="0"/>
              <a:t>FNN: 0.814 ± 0.048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SVM: 0.799 ± 0.053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No clear winner, even the linear and non-linear models are comparable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1ABE901-6979-B0B5-D28A-263ECF95217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5827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47737-5228-858A-D697-C3FE48E23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2C4FE9-2294-E3E2-2E94-7FB78F49A9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16ED004D-E7D6-2A26-677A-C5C0A1E007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/>
          <a:p>
            <a:r>
              <a:rPr lang="en-US" dirty="0"/>
              <a:t>Figure 2.</a:t>
            </a:r>
          </a:p>
        </p:txBody>
      </p:sp>
      <p:sp>
        <p:nvSpPr>
          <p:cNvPr id="75" name="Content Placeholder 3">
            <a:extLst>
              <a:ext uri="{FF2B5EF4-FFF2-40B4-BE49-F238E27FC236}">
                <a16:creationId xmlns:a16="http://schemas.microsoft.com/office/drawing/2014/main" id="{6A116083-4C07-4087-B6DF-318FBDDCB5FC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dirty="0"/>
              <a:t>Monte Carlo stability analysis over R = 100 independent trials in the low-</a:t>
            </a:r>
            <a:r>
              <a:rPr lang="en-US" dirty="0" err="1"/>
              <a:t>resourceregime</a:t>
            </a:r>
            <a:r>
              <a:rPr lang="en-US" dirty="0"/>
              <a:t> (N ≈ 230, T = 25). Error bars show one standard deviation around the mean F1 </a:t>
            </a:r>
            <a:r>
              <a:rPr lang="en-US" dirty="0" err="1"/>
              <a:t>score.All</a:t>
            </a:r>
            <a:r>
              <a:rPr lang="en-US" dirty="0"/>
              <a:t> non-linear models form a statistical tie around F1 ≈ 0.8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FA402ADD-310E-3F29-A2CA-92304F00CB6D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/>
          <a:p>
            <a:r>
              <a:rPr lang="en-US" dirty="0"/>
              <a:t>     Single Trial Performance (N=250, T=25)</a:t>
            </a:r>
          </a:p>
        </p:txBody>
      </p:sp>
      <p:pic>
        <p:nvPicPr>
          <p:cNvPr id="15" name="Picture 14" descr="A graph of different colored rectangular shapes&#10;&#10;AI-generated content may be incorrect.">
            <a:extLst>
              <a:ext uri="{FF2B5EF4-FFF2-40B4-BE49-F238E27FC236}">
                <a16:creationId xmlns:a16="http://schemas.microsoft.com/office/drawing/2014/main" id="{FF4101C2-B0F2-4DC6-3E1F-46A2633FEF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1" y="3324859"/>
            <a:ext cx="5516880" cy="3031489"/>
          </a:xfrm>
          <a:prstGeom prst="rect">
            <a:avLst/>
          </a:prstGeom>
          <a:noFill/>
        </p:spPr>
      </p:pic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E33BDD2-5CD8-AD1F-817B-F815D65B962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2826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3A85A0-5132-4FAA-51D7-C099CDA39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6F990-310A-DF4C-F503-8E4DBCA6A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Results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4C848723-54B9-3D14-EADF-4108AE26B45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Effect of Hyperparameter Tuning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Grid search / CV improves baseline models: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LR: F1 improved from 0.806 to 0.845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/>
              <a:t>FNN: F1 improved from 0.806 to 0.866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 and cross-validation helps improve model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However, these tuned scores are still bounded by the information content of the shadow: they do not contradict the Monte Carlo result that all models saturate near F1 ≈ 0.8 on average when we vary the underlying physics and measurement noise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B4AF0F77-C05C-ACC6-903A-CB7B99F897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474768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7E99FB-E431-D2B9-D038-58F8DD990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DB2BFAD-B2E6-DA7B-72C0-E766310E327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4942"/>
          <a:stretch>
            <a:fillRect/>
          </a:stretch>
        </p:blipFill>
        <p:spPr>
          <a:xfrm>
            <a:off x="5216236" y="3265107"/>
            <a:ext cx="4292987" cy="3091242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C2461E-2AAD-453E-5C41-BD984A662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/>
          <a:p>
            <a:r>
              <a:rPr lang="en-US" dirty="0"/>
              <a:t>Results</a:t>
            </a:r>
          </a:p>
        </p:txBody>
      </p:sp>
      <p:sp>
        <p:nvSpPr>
          <p:cNvPr id="73" name="Text Placeholder 2">
            <a:extLst>
              <a:ext uri="{FF2B5EF4-FFF2-40B4-BE49-F238E27FC236}">
                <a16:creationId xmlns:a16="http://schemas.microsoft.com/office/drawing/2014/main" id="{42714C59-570B-EE41-0DBA-D268A42407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/>
          <a:p>
            <a:r>
              <a:rPr lang="en-US" dirty="0"/>
              <a:t>Figure 3.</a:t>
            </a:r>
          </a:p>
        </p:txBody>
      </p:sp>
      <p:sp>
        <p:nvSpPr>
          <p:cNvPr id="75" name="Content Placeholder 3">
            <a:extLst>
              <a:ext uri="{FF2B5EF4-FFF2-40B4-BE49-F238E27FC236}">
                <a16:creationId xmlns:a16="http://schemas.microsoft.com/office/drawing/2014/main" id="{00C096FB-758F-9A53-8F37-89F02683191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3392035"/>
            <a:ext cx="2722880" cy="2907164"/>
          </a:xfrm>
        </p:spPr>
        <p:txBody>
          <a:bodyPr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500" dirty="0"/>
              <a:t>Impact of hyperparameter tuning on Logistic Regression and the FNN for a fixed representative dataset. “Baseline” denotes the hand-chosen configurations used in the main Montecarlo experiment, whereas “Optimized” refers to models selected via grid search / cross-validation. Both models benefit from tuning, with the FNN showing the largest relative improvement</a:t>
            </a:r>
          </a:p>
        </p:txBody>
      </p:sp>
      <p:sp>
        <p:nvSpPr>
          <p:cNvPr id="77" name="Text Placeholder 4">
            <a:extLst>
              <a:ext uri="{FF2B5EF4-FFF2-40B4-BE49-F238E27FC236}">
                <a16:creationId xmlns:a16="http://schemas.microsoft.com/office/drawing/2014/main" id="{37E94C73-628F-D09B-AFC8-A34D1B98C0E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/>
          <a:p>
            <a:r>
              <a:rPr lang="en-US" dirty="0"/>
              <a:t>Impact of Hyperparameter Tuning on FNN and RL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D462F396-B034-651C-F8FD-CC01B802DDE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A49DFD55-3C28-40EF-9E31-A92D2E4017FF}" type="slidenum">
              <a:rPr lang="en-US" smtClean="0"/>
              <a:pPr>
                <a:spcAft>
                  <a:spcPts val="600"/>
                </a:spcAft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476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939BE6-95B1-69F9-83E5-FC49E6BBBE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614356-D4CF-EF43-CB4E-EB309D4C6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Discussion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D94E85F1-55FA-82DD-20FD-4F311A2BEC7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r>
              <a:rPr lang="en-US" dirty="0"/>
              <a:t>Classical shadows are the primary bottleneck: The 16D feature vectors capture most of the exploitable information, as increasing model complexity only yields modest improvements </a:t>
            </a:r>
          </a:p>
          <a:p>
            <a:r>
              <a:rPr lang="en-US" dirty="0"/>
              <a:t>Model choice is secondary to the measurements: No single model consistently outperforms any other, as the dominant factor is the limited dataset size and shot noise</a:t>
            </a:r>
          </a:p>
          <a:p>
            <a:r>
              <a:rPr lang="en-US" dirty="0"/>
              <a:t>Tuning helps but doesn’t break ceiling: Hyperparameter tuning and CV improves  F1 scores, but they are still limited by the low N and 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Simple classical models with classical shadows are resource-efficient for 2-qubit entanglement detection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Complex models offer little advantage in the 2-qubit Werner case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7619241-9840-F707-8785-769E6B2FAC22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5548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2C08B-6EF7-371A-2955-F96A7B00C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AA9249-6E68-79FC-1C41-45ED8A1CDA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Summary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06028C4B-4358-A7D2-EFEA-4B7B3004A32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Built an end-to-end classical shadow pipeline for entanglement detection in 2-qubit Werner states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Tested four models: LR, RF, FNN, SVM in a low-resource regime (N≈ 230, T = 25)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non-linear models achieve ≈ 0.8 F1 with overlapping error bars across 100 Monte Carlo trials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Logistic Regression remains surprisingly competitive (within ~0.02 F1 of best non-linear model)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 improves LR and FNN on a fixed dataset, but performance is limited by shadow information, not model complexity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Conclusion: With 25 snapshots, simple classical models nearly saturate the extractable information for binary entanglement detection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67F035C4-A781-C792-E8D3-1C1E81A5955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8447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4CFD17-0BBA-BD1F-D1C6-AE6AEDD1E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C7E2C4-7296-B166-97E8-645C993FD1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Limitations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9144B827-2C93-5B26-F810-A9FEA78EBD5E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Physics model: We restrict attention to 2-qubit Werner states with a simple depolarizing channel. Real quantum hardware exhibits additional error sources such as readout bias, coherent control errors, and crosstalk, which are not included 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System size: For N = 2 and T = 25, the reconstructed density matrices are still reasonably well estimated. This regime does not fully stress-test the asymptotic advantages of classical shadows in high dimensions, where full reconstruction is impossible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Task complexity: The classification task is binary (entangled vs. separable) with a clean analytical label (concurrence). More complex phase diagrams (e.g., multiple entangled phases or topological order) are not considered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3CF06F91-ECA6-3CD4-3D12-1CE6F81C65F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42042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3C84E-0B0E-7AC6-632C-BC2E14568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B16833-D27E-E26E-1149-00EABB867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Future Work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DB0DF8B9-28DC-55FF-616C-D2BC2A2F162D}"/>
                  </a:ext>
                </a:extLst>
              </p:cNvPr>
              <p:cNvSpPr>
                <a:spLocks noGrp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</p:spPr>
            <p:txBody>
              <a:bodyPr>
                <a:no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Larger systems and richer states: Extending to more general families of entangled states might better probe the scaling behavior of classical-shadow based classifiers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-US" dirty="0"/>
                  <a:t>Shadow kernels and raw-shadow learning: Instead of first reconstructing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𝜌</m:t>
                        </m:r>
                      </m:e>
                    </m:acc>
                  </m:oMath>
                </a14:m>
                <a:r>
                  <a:rPr lang="en-US" dirty="0"/>
                  <a:t>, we could build kernel methods directly on shadow overlaps or train models on raw shadow data, comparing their performance and sample complexity to our feature-based approach</a:t>
                </a:r>
              </a:p>
            </p:txBody>
          </p:sp>
        </mc:Choice>
        <mc:Fallback xmlns="">
          <p:sp>
            <p:nvSpPr>
              <p:cNvPr id="36" name="Content Placeholder 35">
                <a:extLst>
                  <a:ext uri="{FF2B5EF4-FFF2-40B4-BE49-F238E27FC236}">
                    <a16:creationId xmlns:a16="http://schemas.microsoft.com/office/drawing/2014/main" id="{DB0DF8B9-28DC-55FF-616C-D2BC2A2F162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half" idx="15"/>
              </p:nvPr>
            </p:nvSpPr>
            <p:spPr>
              <a:xfrm>
                <a:off x="1341120" y="2622759"/>
                <a:ext cx="8920481" cy="3532553"/>
              </a:xfrm>
              <a:blipFill>
                <a:blip r:embed="rId3"/>
                <a:stretch>
                  <a:fillRect l="-410" t="-2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B9AB0160-F196-985A-D619-4A25C03404E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629720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45E22A-8CC3-701B-CD6E-313DDA8446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5BC53-1365-803E-7C96-63E2711BD38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Thank You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8112D9E6-F2CC-DFA4-4DD1-E569F1C32D1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1204575" y="6356350"/>
            <a:ext cx="987425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22556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356E64-B2BA-0B53-9B9C-6DD12FCE9A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221DD-62E5-CD1F-28FC-EDC0CC456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41120" y="558801"/>
            <a:ext cx="9953308" cy="1780860"/>
          </a:xfrm>
        </p:spPr>
        <p:txBody>
          <a:bodyPr/>
          <a:lstStyle/>
          <a:p>
            <a:pPr>
              <a:lnSpc>
                <a:spcPct val="110000"/>
              </a:lnSpc>
            </a:pPr>
            <a:r>
              <a:rPr lang="en-US" dirty="0"/>
              <a:t>References</a:t>
            </a:r>
          </a:p>
        </p:txBody>
      </p:sp>
      <p:sp>
        <p:nvSpPr>
          <p:cNvPr id="36" name="Content Placeholder 35">
            <a:extLst>
              <a:ext uri="{FF2B5EF4-FFF2-40B4-BE49-F238E27FC236}">
                <a16:creationId xmlns:a16="http://schemas.microsoft.com/office/drawing/2014/main" id="{E01C3CA0-9B4B-8525-BFC5-C66703A007DB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1341120" y="2622759"/>
            <a:ext cx="8920481" cy="353255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dirty="0"/>
              <a:t>[1] H.-Y. Huang, R. Kueng, and J. </a:t>
            </a:r>
            <a:r>
              <a:rPr lang="en-US" dirty="0" err="1"/>
              <a:t>Preskill</a:t>
            </a:r>
            <a:r>
              <a:rPr lang="en-US" dirty="0"/>
              <a:t>, “Predicting many properties of a quantum system from very few measurements,” </a:t>
            </a:r>
            <a:r>
              <a:rPr lang="en-US" i="1" dirty="0"/>
              <a:t>Nature Physics</a:t>
            </a:r>
            <a:r>
              <a:rPr lang="en-US" dirty="0"/>
              <a:t>, vol. 16, pp. 1050–1057, 2020.</a:t>
            </a:r>
          </a:p>
          <a:p>
            <a:pPr marL="0" indent="0">
              <a:buNone/>
            </a:pPr>
            <a:r>
              <a:rPr lang="en-US" dirty="0"/>
              <a:t>[2] F. Pedregosa et al., “Scikit-learn: Machine Learning in Python,” </a:t>
            </a:r>
            <a:r>
              <a:rPr lang="en-US" i="1" dirty="0"/>
              <a:t>Journal of Machine Learning Research</a:t>
            </a:r>
            <a:r>
              <a:rPr lang="en-US" dirty="0"/>
              <a:t>, vol. 12, pp. 2825–2830, 2011.</a:t>
            </a:r>
          </a:p>
          <a:p>
            <a:pPr marL="0" indent="0">
              <a:buNone/>
            </a:pPr>
            <a:r>
              <a:rPr lang="en-US" dirty="0"/>
              <a:t>[3] J.R. Johansson, P.D. Nation, and F. Nori, “</a:t>
            </a:r>
            <a:r>
              <a:rPr lang="en-US" dirty="0" err="1"/>
              <a:t>QuTiP</a:t>
            </a:r>
            <a:r>
              <a:rPr lang="en-US" dirty="0"/>
              <a:t>: An open-source Python framework for the dynamics of open quantum systems,” </a:t>
            </a:r>
            <a:r>
              <a:rPr lang="en-US" i="1" dirty="0"/>
              <a:t>Computer Physics Communications</a:t>
            </a:r>
            <a:r>
              <a:rPr lang="en-US" dirty="0"/>
              <a:t>, vol. 183, pp.1760–1772, 2012.</a:t>
            </a:r>
          </a:p>
        </p:txBody>
      </p:sp>
      <p:sp>
        <p:nvSpPr>
          <p:cNvPr id="68" name="Slide Number Placeholder 67">
            <a:extLst>
              <a:ext uri="{FF2B5EF4-FFF2-40B4-BE49-F238E27FC236}">
                <a16:creationId xmlns:a16="http://schemas.microsoft.com/office/drawing/2014/main" id="{EEF6593B-D835-D11B-3A01-34BAC929CC1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744734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{0556D50A-2D1B-4106-BF75-6641682EE27B}tf67328976_win32</Template>
  <TotalTime>424</TotalTime>
  <Words>1808</Words>
  <Application>Microsoft Macintosh PowerPoint</Application>
  <PresentationFormat>Widescreen</PresentationFormat>
  <Paragraphs>208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Cambria Math</vt:lpstr>
      <vt:lpstr>Tenorite</vt:lpstr>
      <vt:lpstr>Custom</vt:lpstr>
      <vt:lpstr>Neural Shadows: A Machine Learning Approach to Classifying Entanglement Phases</vt:lpstr>
      <vt:lpstr>Overview</vt:lpstr>
      <vt:lpstr>Introduction and Motivation</vt:lpstr>
      <vt:lpstr>Research Question</vt:lpstr>
      <vt:lpstr>Background and Related Work</vt:lpstr>
      <vt:lpstr>Background and Related Work</vt:lpstr>
      <vt:lpstr>Background and Related Work</vt:lpstr>
      <vt:lpstr>Problem Formulation and Dataset</vt:lpstr>
      <vt:lpstr>Methodology: ML System Design</vt:lpstr>
      <vt:lpstr>Methodology: ML System Design</vt:lpstr>
      <vt:lpstr>Methodology: ML System Design</vt:lpstr>
      <vt:lpstr>Experimental Setup</vt:lpstr>
      <vt:lpstr>Experimental Setup</vt:lpstr>
      <vt:lpstr>Experimental Setup</vt:lpstr>
      <vt:lpstr>Results</vt:lpstr>
      <vt:lpstr>Results</vt:lpstr>
      <vt:lpstr>Results</vt:lpstr>
      <vt:lpstr>Results</vt:lpstr>
      <vt:lpstr>Results</vt:lpstr>
      <vt:lpstr>Results</vt:lpstr>
      <vt:lpstr>Discussion</vt:lpstr>
      <vt:lpstr>Summary</vt:lpstr>
      <vt:lpstr>Limitations</vt:lpstr>
      <vt:lpstr>Future Work</vt:lpstr>
      <vt:lpstr>Thank You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Joseph Masters</dc:creator>
  <cp:lastModifiedBy>Syed Emad Uddin Shubha</cp:lastModifiedBy>
  <cp:revision>203</cp:revision>
  <dcterms:created xsi:type="dcterms:W3CDTF">2025-11-27T18:08:55Z</dcterms:created>
  <dcterms:modified xsi:type="dcterms:W3CDTF">2025-12-01T01:42:23Z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